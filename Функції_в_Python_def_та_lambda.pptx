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8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Зображення, що містить текст, логотип, символ, емблем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C01FB49B-3F9E-6AAD-59BB-6D97A25A80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83" r="27737" b="-1"/>
          <a:stretch>
            <a:fillRect/>
          </a:stretch>
        </p:blipFill>
        <p:spPr>
          <a:xfrm>
            <a:off x="3563470" y="10"/>
            <a:ext cx="558052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1696639"/>
          </a:xfrm>
        </p:spPr>
        <p:txBody>
          <a:bodyPr anchor="b">
            <a:normAutofit/>
          </a:bodyPr>
          <a:lstStyle/>
          <a:p>
            <a:pPr algn="l"/>
            <a:r>
              <a:rPr lang="uk-UA" sz="4200" dirty="0">
                <a:solidFill>
                  <a:schemeClr val="bg1"/>
                </a:solidFill>
              </a:rPr>
              <a:t>Функції в </a:t>
            </a:r>
            <a:r>
              <a:rPr lang="en-US" sz="4200" dirty="0">
                <a:solidFill>
                  <a:schemeClr val="bg1"/>
                </a:solidFill>
              </a:rPr>
              <a:t>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3334872"/>
            <a:ext cx="3017519" cy="2746192"/>
          </a:xfrm>
        </p:spPr>
        <p:txBody>
          <a:bodyPr>
            <a:normAutofit/>
          </a:bodyPr>
          <a:lstStyle/>
          <a:p>
            <a:pPr algn="l"/>
            <a:r>
              <a:rPr lang="pt-BR" sz="1700" dirty="0">
                <a:solidFill>
                  <a:schemeClr val="bg1"/>
                </a:solidFill>
              </a:rPr>
              <a:t>def</a:t>
            </a:r>
          </a:p>
          <a:p>
            <a:pPr algn="l"/>
            <a:endParaRPr lang="pt-BR" sz="1700" dirty="0">
              <a:solidFill>
                <a:schemeClr val="bg1"/>
              </a:solidFill>
            </a:endParaRPr>
          </a:p>
          <a:p>
            <a:pPr algn="l"/>
            <a:endParaRPr lang="pt-BR" sz="1700" dirty="0">
              <a:solidFill>
                <a:schemeClr val="bg1"/>
              </a:solidFill>
            </a:endParaRPr>
          </a:p>
          <a:p>
            <a:pPr algn="l"/>
            <a:endParaRPr lang="pt-BR" sz="1700" dirty="0">
              <a:solidFill>
                <a:schemeClr val="bg1"/>
              </a:solidFill>
            </a:endParaRPr>
          </a:p>
          <a:p>
            <a:pPr algn="l"/>
            <a:endParaRPr lang="pt-BR" sz="1700" dirty="0">
              <a:solidFill>
                <a:schemeClr val="bg1"/>
              </a:solidFill>
            </a:endParaRPr>
          </a:p>
          <a:p>
            <a:pPr algn="l"/>
            <a:endParaRPr lang="pt-BR" sz="1700" dirty="0">
              <a:solidFill>
                <a:schemeClr val="bg1"/>
              </a:solidFill>
            </a:endParaRPr>
          </a:p>
          <a:p>
            <a:pPr algn="l"/>
            <a:r>
              <a:rPr lang="pt-BR" sz="1700" dirty="0">
                <a:solidFill>
                  <a:schemeClr val="bg1"/>
                </a:solidFill>
              </a:rPr>
              <a:t>Algoritm Anchor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B0FAC5A0-EA8C-DD56-91E7-F42A348AD9C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Що таке функція?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Функція — це блок коду, який можна викликати багато разів.</a:t>
            </a:r>
          </a:p>
          <a:p>
            <a:r>
              <a:t>Допомагає уникати повторення коду.</a:t>
            </a:r>
          </a:p>
          <a:p>
            <a:r>
              <a:t>Робить програму зрозумілішою.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E1BFF1B9-7588-DF2F-6CAF-D5AB185780C6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Оголошення функції (def)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Функції створюються за допомогою ключового слова def.</a:t>
            </a:r>
          </a:p>
          <a:p>
            <a:r>
              <a:t>Після імені функції вказуються параметри.</a:t>
            </a:r>
          </a:p>
        </p:txBody>
      </p:sp>
      <p:pic>
        <p:nvPicPr>
          <p:cNvPr id="6" name="Рисунок 5" descr="Зображення, що містить текст, знімок екрана, Шрифт, програмне забезпечення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58A49725-33D8-1521-7847-7C046882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208" y="3270344"/>
            <a:ext cx="5558588" cy="3038381"/>
          </a:xfrm>
          <a:prstGeom prst="rect">
            <a:avLst/>
          </a:prstGeom>
        </p:spPr>
      </p:pic>
      <p:cxnSp>
        <p:nvCxnSpPr>
          <p:cNvPr id="8" name="Пряма сполучна лінія 7">
            <a:extLst>
              <a:ext uri="{FF2B5EF4-FFF2-40B4-BE49-F238E27FC236}">
                <a16:creationId xmlns:a16="http://schemas.microsoft.com/office/drawing/2014/main" id="{BEF37007-C42D-3BD0-FF5D-ED6FEEC6ABF3}"/>
              </a:ext>
            </a:extLst>
          </p:cNvPr>
          <p:cNvCxnSpPr/>
          <p:nvPr/>
        </p:nvCxnSpPr>
        <p:spPr>
          <a:xfrm>
            <a:off x="2272553" y="4733365"/>
            <a:ext cx="2433918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Пряма сполучна лінія 8">
            <a:extLst>
              <a:ext uri="{FF2B5EF4-FFF2-40B4-BE49-F238E27FC236}">
                <a16:creationId xmlns:a16="http://schemas.microsoft.com/office/drawing/2014/main" id="{17695C9C-B780-A558-07B1-2C8AFF88C4C9}"/>
              </a:ext>
            </a:extLst>
          </p:cNvPr>
          <p:cNvCxnSpPr>
            <a:cxnSpLocks/>
          </p:cNvCxnSpPr>
          <p:nvPr/>
        </p:nvCxnSpPr>
        <p:spPr>
          <a:xfrm>
            <a:off x="2858682" y="5068645"/>
            <a:ext cx="3458991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Пряма сполучна лінія 10">
            <a:extLst>
              <a:ext uri="{FF2B5EF4-FFF2-40B4-BE49-F238E27FC236}">
                <a16:creationId xmlns:a16="http://schemas.microsoft.com/office/drawing/2014/main" id="{1838C044-674F-ED6B-571C-C4F8536CDE3D}"/>
              </a:ext>
            </a:extLst>
          </p:cNvPr>
          <p:cNvCxnSpPr>
            <a:cxnSpLocks/>
          </p:cNvCxnSpPr>
          <p:nvPr/>
        </p:nvCxnSpPr>
        <p:spPr>
          <a:xfrm>
            <a:off x="2272553" y="5783540"/>
            <a:ext cx="1717556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3FC6B-A06B-C845-452F-3A73BC43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BE12FE67-3464-47E2-1BB8-E6D09DE761A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2AF70-D84D-8E02-9CC9-D2C34A196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Оголошення функції (def)</a:t>
            </a:r>
          </a:p>
        </p:txBody>
      </p:sp>
      <p:pic>
        <p:nvPicPr>
          <p:cNvPr id="11" name="Рисунок 10" descr="Зображення, що містить текст, знімок екрана, Шрифт, програмне забезпечення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24C6FB3F-387D-50D7-C96E-6025F109C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148" y="2850776"/>
            <a:ext cx="3591660" cy="3440064"/>
          </a:xfrm>
          <a:prstGeom prst="rect">
            <a:avLst/>
          </a:prstGeom>
        </p:spPr>
      </p:pic>
      <p:pic>
        <p:nvPicPr>
          <p:cNvPr id="13" name="Рисунок 12" descr="Зображення, що містить текст, знімок екрана, програмне забезпечення, монітор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863FD407-8127-2D54-C7A7-0C5047442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4" y="1366043"/>
            <a:ext cx="5001162" cy="3300086"/>
          </a:xfrm>
          <a:prstGeom prst="rect">
            <a:avLst/>
          </a:prstGeom>
        </p:spPr>
      </p:pic>
      <p:cxnSp>
        <p:nvCxnSpPr>
          <p:cNvPr id="14" name="Пряма сполучна лінія 13">
            <a:extLst>
              <a:ext uri="{FF2B5EF4-FFF2-40B4-BE49-F238E27FC236}">
                <a16:creationId xmlns:a16="http://schemas.microsoft.com/office/drawing/2014/main" id="{D6A8C977-B572-5CD3-AC66-7B74AE2A2DD9}"/>
              </a:ext>
            </a:extLst>
          </p:cNvPr>
          <p:cNvCxnSpPr>
            <a:cxnSpLocks/>
          </p:cNvCxnSpPr>
          <p:nvPr/>
        </p:nvCxnSpPr>
        <p:spPr>
          <a:xfrm>
            <a:off x="1055594" y="1949824"/>
            <a:ext cx="1606924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Пряма сполучна лінія 15">
            <a:extLst>
              <a:ext uri="{FF2B5EF4-FFF2-40B4-BE49-F238E27FC236}">
                <a16:creationId xmlns:a16="http://schemas.microsoft.com/office/drawing/2014/main" id="{5260C83A-A8FD-50C3-C065-EF33F665E052}"/>
              </a:ext>
            </a:extLst>
          </p:cNvPr>
          <p:cNvCxnSpPr>
            <a:cxnSpLocks/>
          </p:cNvCxnSpPr>
          <p:nvPr/>
        </p:nvCxnSpPr>
        <p:spPr>
          <a:xfrm>
            <a:off x="1055594" y="2235228"/>
            <a:ext cx="1887111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Пряма сполучна лінія 17">
            <a:extLst>
              <a:ext uri="{FF2B5EF4-FFF2-40B4-BE49-F238E27FC236}">
                <a16:creationId xmlns:a16="http://schemas.microsoft.com/office/drawing/2014/main" id="{91439797-C069-D633-9AF0-9D18B5D9D668}"/>
              </a:ext>
            </a:extLst>
          </p:cNvPr>
          <p:cNvCxnSpPr>
            <a:cxnSpLocks/>
          </p:cNvCxnSpPr>
          <p:nvPr/>
        </p:nvCxnSpPr>
        <p:spPr>
          <a:xfrm>
            <a:off x="1474002" y="2504007"/>
            <a:ext cx="3898634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Пряма сполучна лінія 19">
            <a:extLst>
              <a:ext uri="{FF2B5EF4-FFF2-40B4-BE49-F238E27FC236}">
                <a16:creationId xmlns:a16="http://schemas.microsoft.com/office/drawing/2014/main" id="{8D900CB1-ED1A-7B91-419C-B615E8327247}"/>
              </a:ext>
            </a:extLst>
          </p:cNvPr>
          <p:cNvCxnSpPr>
            <a:cxnSpLocks/>
          </p:cNvCxnSpPr>
          <p:nvPr/>
        </p:nvCxnSpPr>
        <p:spPr>
          <a:xfrm>
            <a:off x="1055594" y="3002770"/>
            <a:ext cx="1255344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Пряма сполучна лінія 21">
            <a:extLst>
              <a:ext uri="{FF2B5EF4-FFF2-40B4-BE49-F238E27FC236}">
                <a16:creationId xmlns:a16="http://schemas.microsoft.com/office/drawing/2014/main" id="{41DA7D11-70EC-4764-95BC-9DB7B846A676}"/>
              </a:ext>
            </a:extLst>
          </p:cNvPr>
          <p:cNvCxnSpPr>
            <a:cxnSpLocks/>
          </p:cNvCxnSpPr>
          <p:nvPr/>
        </p:nvCxnSpPr>
        <p:spPr>
          <a:xfrm>
            <a:off x="6145754" y="3687185"/>
            <a:ext cx="1501955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Пряма сполучна лінія 23">
            <a:extLst>
              <a:ext uri="{FF2B5EF4-FFF2-40B4-BE49-F238E27FC236}">
                <a16:creationId xmlns:a16="http://schemas.microsoft.com/office/drawing/2014/main" id="{1E4F7EEB-7F24-A0AA-7D2E-5BBA3C81D472}"/>
              </a:ext>
            </a:extLst>
          </p:cNvPr>
          <p:cNvCxnSpPr>
            <a:cxnSpLocks/>
          </p:cNvCxnSpPr>
          <p:nvPr/>
        </p:nvCxnSpPr>
        <p:spPr>
          <a:xfrm>
            <a:off x="7184845" y="4221970"/>
            <a:ext cx="1501955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Пряма сполучна лінія 24">
            <a:extLst>
              <a:ext uri="{FF2B5EF4-FFF2-40B4-BE49-F238E27FC236}">
                <a16:creationId xmlns:a16="http://schemas.microsoft.com/office/drawing/2014/main" id="{CBF74A20-1EC1-D864-3EB7-45515A4807C6}"/>
              </a:ext>
            </a:extLst>
          </p:cNvPr>
          <p:cNvCxnSpPr>
            <a:cxnSpLocks/>
          </p:cNvCxnSpPr>
          <p:nvPr/>
        </p:nvCxnSpPr>
        <p:spPr>
          <a:xfrm>
            <a:off x="6145754" y="5089265"/>
            <a:ext cx="1934217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Пряма зі стрілкою 27">
            <a:extLst>
              <a:ext uri="{FF2B5EF4-FFF2-40B4-BE49-F238E27FC236}">
                <a16:creationId xmlns:a16="http://schemas.microsoft.com/office/drawing/2014/main" id="{8C9AEC13-2291-BD83-DF4B-909935F29A69}"/>
              </a:ext>
            </a:extLst>
          </p:cNvPr>
          <p:cNvCxnSpPr>
            <a:cxnSpLocks/>
          </p:cNvCxnSpPr>
          <p:nvPr/>
        </p:nvCxnSpPr>
        <p:spPr>
          <a:xfrm flipV="1">
            <a:off x="7184845" y="3687185"/>
            <a:ext cx="0" cy="11175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65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365B8242-808D-DEE2-429F-7005A9509AF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effectLst>
            <a:outerShdw blurRad="40000" dist="23000" dir="5400000" rotWithShape="0">
              <a:srgbClr val="000000">
                <a:alpha val="35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Практичні завдання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Створи</a:t>
            </a:r>
            <a:r>
              <a:rPr dirty="0"/>
              <a:t> </a:t>
            </a:r>
            <a:r>
              <a:rPr dirty="0" err="1"/>
              <a:t>функцію</a:t>
            </a:r>
            <a:r>
              <a:rPr dirty="0"/>
              <a:t> def, </a:t>
            </a:r>
            <a:r>
              <a:rPr dirty="0" err="1"/>
              <a:t>яка</a:t>
            </a:r>
            <a:r>
              <a:rPr dirty="0"/>
              <a:t> </a:t>
            </a:r>
            <a:r>
              <a:rPr dirty="0" err="1"/>
              <a:t>знаходить</a:t>
            </a:r>
            <a:r>
              <a:rPr dirty="0"/>
              <a:t> </a:t>
            </a:r>
            <a:r>
              <a:rPr dirty="0" err="1"/>
              <a:t>квадрат</a:t>
            </a:r>
            <a:r>
              <a:rPr dirty="0"/>
              <a:t> </a:t>
            </a:r>
            <a:r>
              <a:rPr dirty="0" err="1"/>
              <a:t>числа</a:t>
            </a:r>
            <a:r>
              <a:rPr dirty="0"/>
              <a:t>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lang="en-US" dirty="0"/>
              <a:t>2</a:t>
            </a:r>
            <a:r>
              <a:rPr dirty="0"/>
              <a:t>. </a:t>
            </a:r>
            <a:r>
              <a:rPr dirty="0" err="1"/>
              <a:t>Створи</a:t>
            </a:r>
            <a:r>
              <a:rPr dirty="0"/>
              <a:t> </a:t>
            </a:r>
            <a:r>
              <a:rPr dirty="0" err="1"/>
              <a:t>функцію</a:t>
            </a:r>
            <a:r>
              <a:rPr dirty="0"/>
              <a:t>, </a:t>
            </a:r>
            <a:r>
              <a:rPr dirty="0" err="1"/>
              <a:t>яка</a:t>
            </a:r>
            <a:r>
              <a:rPr dirty="0"/>
              <a:t> </a:t>
            </a:r>
            <a:r>
              <a:rPr dirty="0" err="1"/>
              <a:t>перевіряє</a:t>
            </a:r>
            <a:r>
              <a:rPr dirty="0"/>
              <a:t>,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парне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80</Words>
  <Application>Microsoft Office PowerPoint</Application>
  <PresentationFormat>Екран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Функції в Python</vt:lpstr>
      <vt:lpstr>Що таке функція?</vt:lpstr>
      <vt:lpstr>Оголошення функції (def)</vt:lpstr>
      <vt:lpstr>Оголошення функції (def)</vt:lpstr>
      <vt:lpstr>Практичні завдання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Коханчук Денис Тарасович</cp:lastModifiedBy>
  <cp:revision>2</cp:revision>
  <dcterms:created xsi:type="dcterms:W3CDTF">2013-01-27T09:14:16Z</dcterms:created>
  <dcterms:modified xsi:type="dcterms:W3CDTF">2026-01-17T12:26:25Z</dcterms:modified>
  <cp:category/>
</cp:coreProperties>
</file>