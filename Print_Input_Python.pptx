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7EFDC-22EA-46C3-37A1-8BA951984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306080E8-8314-6C5D-1A27-CEA94E4F3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E3D5265-F500-F8A5-1350-EC1E578A5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B6E2-BE7E-478B-93C9-B2CAA9C80F38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D499458-88B7-BB4D-51FE-905A526BB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7F9BE15-E363-0563-9A99-54DE1351C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6A18-4687-4783-9907-F376F40C48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48547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AF908-E560-304D-5002-C5D679845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29E9FAB-7EBB-1B8C-5CD3-839B89ED0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76F3E6B-8DE4-D716-01A9-87E947399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B6E2-BE7E-478B-93C9-B2CAA9C80F38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0FFCCEB-34C1-8DC1-E17F-2E15A9DE4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D8AFA13-B9BB-1569-86A5-CEE543565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6A18-4687-4783-9907-F376F40C48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12720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0932C6-6C76-E9EE-3530-F778BBB82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17D2A9F-220B-E5C6-F4C5-CEB06E75C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F7BD544-BE2F-2BA5-FE82-E583E0FFC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B6E2-BE7E-478B-93C9-B2CAA9C80F38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F24CF74-B4AC-B1C7-DD85-ECE55C39E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743BE44-F535-01A5-251A-5D7E6A16D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6A18-4687-4783-9907-F376F40C48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88589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C4F0B4-9578-C2EC-977C-A6E48A721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85C725F-07DB-E42A-E225-37785F7494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35606AE-79FD-1142-C689-398C54250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386AF07-57DC-71D6-7F3D-5C452E9D2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B6E2-BE7E-478B-93C9-B2CAA9C80F38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F56E5D3-1553-9F0B-C8C3-46A13BC89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1D59F98-3E44-CFCA-7D51-9EB23A5C6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6A18-4687-4783-9907-F376F40C48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4321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9C8F4B-7C0C-AC31-495C-E141262BF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30D36CE-B439-6EA9-3DF1-7AF36F7B5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9552A88-AE5D-AA01-5099-8451DAB70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65DD5C7C-419F-7BD0-1A6A-633ADF5F3E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403B9FD9-4DB3-5087-6590-663016D6F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ADD9195C-D9EE-7705-1B8D-C5501F152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B6E2-BE7E-478B-93C9-B2CAA9C80F38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1F087E76-47A7-AEB0-6091-2F66C7E6C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7266CFDB-16F4-832E-F826-EA0EF0F2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6A18-4687-4783-9907-F376F40C48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41821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B68B2-0AA6-9610-EC21-736C8D6A4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251BAEAA-A187-B566-4850-CE9A39A00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B6E2-BE7E-478B-93C9-B2CAA9C80F38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F12E8148-40E3-F972-D81C-7D8B75639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4264DAAD-7F7F-E8D9-BFAF-E5C651688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6A18-4687-4783-9907-F376F40C48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11415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F9F037E2-C7A5-533B-19FB-5693E9EE4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B6E2-BE7E-478B-93C9-B2CAA9C80F38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B49E1515-D108-8C76-055A-2BFC50E5C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FC16D963-3C9A-15ED-8852-C41404B9E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6A18-4687-4783-9907-F376F40C48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73955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8457E7-F96A-0CF3-0E21-766C25619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E5CE128-1675-E1B9-FBD4-8FE6826A8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3D2AC20E-57A2-20E8-C759-4C2009534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B39DE19-5CC4-FC2C-55B2-AE5B9BF4A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B6E2-BE7E-478B-93C9-B2CAA9C80F38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F7930F1-F036-A439-C0BA-240EB1DD6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0E1B6A5-156C-A819-4241-98ED985AE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6A18-4687-4783-9907-F376F40C48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95238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4680A8-D4AC-308C-4F04-F30DCAF3D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9B43FCE1-C473-6F00-2D31-5D80A3965B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72B1DAC9-2C56-C1D6-A233-1603FD49D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7194458-06BD-0A82-C090-5F0B51365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B6E2-BE7E-478B-93C9-B2CAA9C80F38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F0F9B7E-542B-7C51-1D09-21E6F2DD7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6CF2050-B8D9-363A-3805-A4ABD6E4D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6A18-4687-4783-9907-F376F40C48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96058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0DA8F7-72A3-E2AC-58FD-0DFF45662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59FCD978-A880-F521-6A64-DA264F52A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9DDF640-8C04-875C-F4AD-312A5683C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B6E2-BE7E-478B-93C9-B2CAA9C80F38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F49732C-56A0-C8F6-D629-96A0645B0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30173F2-DD9E-5F17-1BA7-6D54BAF8D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6A18-4687-4783-9907-F376F40C48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85471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CED9182D-92E5-5D37-83A1-6E7E918F9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9AAE054-2AA4-D8E9-85B1-EA7ED70AD0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FAB361D-0618-F73F-5997-ABBB87BE3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B6E2-BE7E-478B-93C9-B2CAA9C80F38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F844F87-96C9-8833-0334-CF024E62D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0158CD4-D6FC-ED6D-37A7-3179833F2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26A18-4687-4783-9907-F376F40C48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50105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C24A1612-77DE-5E1F-F340-1B0BF084E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DBE82A5-BF62-431D-71E1-525489F13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52735DD-E103-6A35-F7C8-985516E0BC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8B6E2-BE7E-478B-93C9-B2CAA9C80F38}" type="datetimeFigureOut">
              <a:rPr lang="uk-UA" smtClean="0"/>
              <a:t>15.01.2026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7B78BA0-661B-C647-6252-92FC1AD956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1B24CAC-DC2E-6A73-9C13-FDC3ED229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26A18-4687-4783-9907-F376F40C48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52905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28543F-F17F-7C7C-5CA3-A11ECA1E248B}"/>
              </a:ext>
            </a:extLst>
          </p:cNvPr>
          <p:cNvSpPr txBox="1"/>
          <p:nvPr/>
        </p:nvSpPr>
        <p:spPr>
          <a:xfrm>
            <a:off x="635000" y="2286000"/>
            <a:ext cx="10922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4000" b="1">
                <a:solidFill>
                  <a:srgbClr val="FFFFFF"/>
                </a:solidFill>
              </a:rPr>
              <a:t>PRINT, INPUT </a:t>
            </a:r>
            <a:r>
              <a:rPr lang="uk-UA" sz="4000" b="1">
                <a:solidFill>
                  <a:srgbClr val="FFFFFF"/>
                </a:solidFill>
              </a:rPr>
              <a:t>ТА ЗМІННІ В </a:t>
            </a:r>
            <a:r>
              <a:rPr lang="en-US" sz="4000" b="1">
                <a:solidFill>
                  <a:srgbClr val="FFFFFF"/>
                </a:solidFill>
              </a:rPr>
              <a:t>PYTHON | </a:t>
            </a:r>
            <a:r>
              <a:rPr lang="uk-UA" sz="4000" b="1">
                <a:solidFill>
                  <a:srgbClr val="FFFFFF"/>
                </a:solidFill>
              </a:rPr>
              <a:t>ОСНОВИ ПРОГРАМУВАННЯ</a:t>
            </a:r>
          </a:p>
        </p:txBody>
      </p: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E2DD492C-A333-C70C-3D1D-DA8BEDADDFED}"/>
              </a:ext>
            </a:extLst>
          </p:cNvPr>
          <p:cNvSpPr/>
          <p:nvPr/>
        </p:nvSpPr>
        <p:spPr>
          <a:xfrm>
            <a:off x="8890000" y="6096000"/>
            <a:ext cx="2540000" cy="508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Anchor Algorithm</a:t>
            </a:r>
            <a:endParaRPr lang="uk-UA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4C5C24-C2CF-6E0F-E3AC-B7C5BC9B8C5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10B1D"/>
              </a:clrFrom>
              <a:clrTo>
                <a:srgbClr val="010B1D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96" b="89941" l="9961" r="89974">
                        <a14:foregroundMark x1="54297" y1="8496" x2="47135" y2="84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3075" y="0"/>
            <a:ext cx="2325974" cy="1550649"/>
          </a:xfrm>
          <a:prstGeom prst="rect">
            <a:avLst/>
          </a:prstGeom>
          <a:noFill/>
          <a:effectLst>
            <a:glow>
              <a:schemeClr val="accent1"/>
            </a:glow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2767290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31021-6024-8C30-EB0C-5E58B5820DB2}"/>
              </a:ext>
            </a:extLst>
          </p:cNvPr>
          <p:cNvSpPr txBox="1"/>
          <p:nvPr/>
        </p:nvSpPr>
        <p:spPr>
          <a:xfrm>
            <a:off x="2032000" y="0"/>
            <a:ext cx="10160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uk-UA" sz="4400" b="1" dirty="0">
                <a:solidFill>
                  <a:srgbClr val="0070C0"/>
                </a:solidFill>
              </a:rPr>
              <a:t>Що таке </a:t>
            </a:r>
            <a:r>
              <a:rPr lang="en-US" sz="4400" b="1" dirty="0">
                <a:solidFill>
                  <a:srgbClr val="0070C0"/>
                </a:solidFill>
              </a:rPr>
              <a:t>print()?</a:t>
            </a:r>
            <a:endParaRPr lang="uk-UA" sz="4400" b="1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44A1D0-DA0D-C6D7-C826-7E1944F98550}"/>
              </a:ext>
            </a:extLst>
          </p:cNvPr>
          <p:cNvSpPr txBox="1"/>
          <p:nvPr/>
        </p:nvSpPr>
        <p:spPr>
          <a:xfrm>
            <a:off x="590862" y="2153586"/>
            <a:ext cx="5270292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3200" dirty="0" err="1">
                <a:solidFill>
                  <a:srgbClr val="FFFFFF"/>
                </a:solidFill>
              </a:rPr>
              <a:t>print</a:t>
            </a:r>
            <a:r>
              <a:rPr lang="ru-RU" sz="3200" dirty="0">
                <a:solidFill>
                  <a:srgbClr val="FFFFFF"/>
                </a:solidFill>
              </a:rPr>
              <a:t>() - </a:t>
            </a:r>
            <a:r>
              <a:rPr lang="ru-RU" sz="3200" dirty="0" err="1">
                <a:solidFill>
                  <a:srgbClr val="FFFFFF"/>
                </a:solidFill>
              </a:rPr>
              <a:t>це</a:t>
            </a:r>
            <a:r>
              <a:rPr lang="ru-RU" sz="3200" dirty="0">
                <a:solidFill>
                  <a:srgbClr val="FFFFFF"/>
                </a:solidFill>
              </a:rPr>
              <a:t> </a:t>
            </a:r>
            <a:r>
              <a:rPr lang="ru-RU" sz="3200" dirty="0" err="1">
                <a:solidFill>
                  <a:srgbClr val="FFFFFF"/>
                </a:solidFill>
              </a:rPr>
              <a:t>функція</a:t>
            </a:r>
            <a:r>
              <a:rPr lang="ru-RU" sz="3200" dirty="0">
                <a:solidFill>
                  <a:srgbClr val="FFFFFF"/>
                </a:solidFill>
              </a:rPr>
              <a:t> </a:t>
            </a:r>
            <a:r>
              <a:rPr lang="ru-RU" sz="3200" dirty="0" err="1">
                <a:solidFill>
                  <a:srgbClr val="FFFFFF"/>
                </a:solidFill>
              </a:rPr>
              <a:t>виводу</a:t>
            </a:r>
            <a:endParaRPr lang="ru-RU" sz="3200" dirty="0">
              <a:solidFill>
                <a:srgbClr val="FFFFFF"/>
              </a:solidFill>
            </a:endParaRPr>
          </a:p>
          <a:p>
            <a:r>
              <a:rPr lang="ru-RU" sz="3200" dirty="0">
                <a:solidFill>
                  <a:srgbClr val="FFFFFF"/>
                </a:solidFill>
              </a:rPr>
              <a:t>• Текст, числа, </a:t>
            </a:r>
            <a:r>
              <a:rPr lang="ru-RU" sz="3200" dirty="0" err="1">
                <a:solidFill>
                  <a:srgbClr val="FFFFFF"/>
                </a:solidFill>
              </a:rPr>
              <a:t>результати</a:t>
            </a:r>
            <a:endParaRPr lang="ru-RU" sz="3200" dirty="0">
              <a:solidFill>
                <a:srgbClr val="FFFFFF"/>
              </a:solidFill>
            </a:endParaRPr>
          </a:p>
          <a:p>
            <a:r>
              <a:rPr lang="ru-RU" sz="3200" dirty="0">
                <a:solidFill>
                  <a:srgbClr val="FFFFFF"/>
                </a:solidFill>
              </a:rPr>
              <a:t>• </a:t>
            </a:r>
            <a:r>
              <a:rPr lang="ru-RU" sz="3200" dirty="0" err="1">
                <a:solidFill>
                  <a:srgbClr val="FFFFFF"/>
                </a:solidFill>
              </a:rPr>
              <a:t>Змінні</a:t>
            </a:r>
            <a:r>
              <a:rPr lang="ru-RU" sz="3200" dirty="0">
                <a:solidFill>
                  <a:srgbClr val="FFFFFF"/>
                </a:solidFill>
              </a:rPr>
              <a:t> та </a:t>
            </a:r>
            <a:r>
              <a:rPr lang="ru-RU" sz="3200" dirty="0" err="1">
                <a:solidFill>
                  <a:srgbClr val="FFFFFF"/>
                </a:solidFill>
              </a:rPr>
              <a:t>вирази</a:t>
            </a:r>
            <a:endParaRPr lang="uk-UA" sz="3200" dirty="0">
              <a:solidFill>
                <a:srgbClr val="FFFFFF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53CC439-0B8C-C373-2534-A65D9EF2740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10B1D"/>
              </a:clrFrom>
              <a:clrTo>
                <a:srgbClr val="010B1D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96" b="89941" l="9961" r="89974">
                        <a14:foregroundMark x1="54297" y1="8496" x2="47135" y2="84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3055" y="-5884"/>
            <a:ext cx="2325974" cy="1550649"/>
          </a:xfrm>
          <a:prstGeom prst="rect">
            <a:avLst/>
          </a:prstGeom>
          <a:noFill/>
          <a:effectLst>
            <a:glow>
              <a:schemeClr val="accent1"/>
            </a:glow>
            <a:softEdge rad="12700"/>
          </a:effectLst>
        </p:spPr>
      </p:pic>
      <p:grpSp>
        <p:nvGrpSpPr>
          <p:cNvPr id="9" name="Групувати 8">
            <a:extLst>
              <a:ext uri="{FF2B5EF4-FFF2-40B4-BE49-F238E27FC236}">
                <a16:creationId xmlns:a16="http://schemas.microsoft.com/office/drawing/2014/main" id="{53F15871-BF94-8E33-16FE-B582938E06DC}"/>
              </a:ext>
            </a:extLst>
          </p:cNvPr>
          <p:cNvGrpSpPr/>
          <p:nvPr/>
        </p:nvGrpSpPr>
        <p:grpSpPr>
          <a:xfrm>
            <a:off x="6790544" y="1847537"/>
            <a:ext cx="5090410" cy="3162925"/>
            <a:chOff x="6835515" y="1828800"/>
            <a:chExt cx="5090410" cy="3162925"/>
          </a:xfrm>
        </p:grpSpPr>
        <p:sp>
          <p:nvSpPr>
            <p:cNvPr id="8" name="Прямокутник 7">
              <a:extLst>
                <a:ext uri="{FF2B5EF4-FFF2-40B4-BE49-F238E27FC236}">
                  <a16:creationId xmlns:a16="http://schemas.microsoft.com/office/drawing/2014/main" id="{C07F1EC6-59DC-5552-A1BA-404DA0EA47CE}"/>
                </a:ext>
              </a:extLst>
            </p:cNvPr>
            <p:cNvSpPr/>
            <p:nvPr/>
          </p:nvSpPr>
          <p:spPr>
            <a:xfrm>
              <a:off x="6835515" y="1828800"/>
              <a:ext cx="5090410" cy="316292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pic>
          <p:nvPicPr>
            <p:cNvPr id="7" name="Рисунок 6" descr="Зображення, що містить текст, знімок екрана, Шрифт, число&#10;&#10;Вміст на основі ШІ може бути неправильним.">
              <a:extLst>
                <a:ext uri="{FF2B5EF4-FFF2-40B4-BE49-F238E27FC236}">
                  <a16:creationId xmlns:a16="http://schemas.microsoft.com/office/drawing/2014/main" id="{BDC48086-DD37-1974-150B-669EE47D11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16090" y="2086834"/>
              <a:ext cx="4159240" cy="2684332"/>
            </a:xfrm>
            <a:prstGeom prst="rect">
              <a:avLst/>
            </a:prstGeom>
          </p:spPr>
        </p:pic>
      </p:grpSp>
      <p:sp>
        <p:nvSpPr>
          <p:cNvPr id="10" name="Стрілка: угору 9">
            <a:extLst>
              <a:ext uri="{FF2B5EF4-FFF2-40B4-BE49-F238E27FC236}">
                <a16:creationId xmlns:a16="http://schemas.microsoft.com/office/drawing/2014/main" id="{50C74C25-054E-F350-A27A-B36E612F6176}"/>
              </a:ext>
            </a:extLst>
          </p:cNvPr>
          <p:cNvSpPr/>
          <p:nvPr/>
        </p:nvSpPr>
        <p:spPr>
          <a:xfrm rot="2923578">
            <a:off x="5837864" y="4948801"/>
            <a:ext cx="305805" cy="160724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1" name="Стрілка: угору 10">
            <a:extLst>
              <a:ext uri="{FF2B5EF4-FFF2-40B4-BE49-F238E27FC236}">
                <a16:creationId xmlns:a16="http://schemas.microsoft.com/office/drawing/2014/main" id="{C1EE258C-C6E4-CF85-F773-B98393867822}"/>
              </a:ext>
            </a:extLst>
          </p:cNvPr>
          <p:cNvSpPr/>
          <p:nvPr/>
        </p:nvSpPr>
        <p:spPr>
          <a:xfrm rot="7985008">
            <a:off x="5977373" y="423528"/>
            <a:ext cx="368145" cy="1495008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Стрілка: угору 11">
            <a:extLst>
              <a:ext uri="{FF2B5EF4-FFF2-40B4-BE49-F238E27FC236}">
                <a16:creationId xmlns:a16="http://schemas.microsoft.com/office/drawing/2014/main" id="{35671BA0-B801-899B-9831-AA81B419B114}"/>
              </a:ext>
            </a:extLst>
          </p:cNvPr>
          <p:cNvSpPr/>
          <p:nvPr/>
        </p:nvSpPr>
        <p:spPr>
          <a:xfrm rot="12338486">
            <a:off x="11881398" y="163634"/>
            <a:ext cx="305805" cy="160724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Стрілка: угору 12">
            <a:extLst>
              <a:ext uri="{FF2B5EF4-FFF2-40B4-BE49-F238E27FC236}">
                <a16:creationId xmlns:a16="http://schemas.microsoft.com/office/drawing/2014/main" id="{9C6AEFC3-4AB2-5087-3951-887EE0512FDD}"/>
              </a:ext>
            </a:extLst>
          </p:cNvPr>
          <p:cNvSpPr/>
          <p:nvPr/>
        </p:nvSpPr>
        <p:spPr>
          <a:xfrm rot="20370379">
            <a:off x="11771581" y="5084324"/>
            <a:ext cx="305805" cy="160724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Стрілка: угору 3">
            <a:extLst>
              <a:ext uri="{FF2B5EF4-FFF2-40B4-BE49-F238E27FC236}">
                <a16:creationId xmlns:a16="http://schemas.microsoft.com/office/drawing/2014/main" id="{118A53A0-D4BD-F18C-0EEC-B11CFF6E8CDB}"/>
              </a:ext>
            </a:extLst>
          </p:cNvPr>
          <p:cNvSpPr/>
          <p:nvPr/>
        </p:nvSpPr>
        <p:spPr>
          <a:xfrm rot="14612099">
            <a:off x="9555082" y="3675424"/>
            <a:ext cx="485115" cy="75693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" name="Стрілка: угору 5">
            <a:extLst>
              <a:ext uri="{FF2B5EF4-FFF2-40B4-BE49-F238E27FC236}">
                <a16:creationId xmlns:a16="http://schemas.microsoft.com/office/drawing/2014/main" id="{7A0388CF-B164-286A-F56B-3E3C8665FC70}"/>
              </a:ext>
            </a:extLst>
          </p:cNvPr>
          <p:cNvSpPr/>
          <p:nvPr/>
        </p:nvSpPr>
        <p:spPr>
          <a:xfrm rot="14612099">
            <a:off x="10001983" y="2958978"/>
            <a:ext cx="485115" cy="75693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Стрілка: угору 13">
            <a:extLst>
              <a:ext uri="{FF2B5EF4-FFF2-40B4-BE49-F238E27FC236}">
                <a16:creationId xmlns:a16="http://schemas.microsoft.com/office/drawing/2014/main" id="{D4AA091A-FCB1-3F65-4DDC-FA1D50863606}"/>
              </a:ext>
            </a:extLst>
          </p:cNvPr>
          <p:cNvSpPr/>
          <p:nvPr/>
        </p:nvSpPr>
        <p:spPr>
          <a:xfrm rot="14612099">
            <a:off x="11358580" y="2457532"/>
            <a:ext cx="485115" cy="75693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30600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4" grpId="0" animBg="1"/>
      <p:bldP spid="4" grpId="1" animBg="1"/>
      <p:bldP spid="4" grpId="2" animBg="1"/>
      <p:bldP spid="6" grpId="0" animBg="1"/>
      <p:bldP spid="6" grpId="1" animBg="1"/>
      <p:bldP spid="6" grpId="2" animBg="1"/>
      <p:bldP spid="14" grpId="0" animBg="1"/>
      <p:bldP spid="14" grpId="1" animBg="1"/>
      <p:bldP spid="14" grpId="2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872729-C9FD-856E-5876-80531E481DF0}"/>
              </a:ext>
            </a:extLst>
          </p:cNvPr>
          <p:cNvSpPr txBox="1"/>
          <p:nvPr/>
        </p:nvSpPr>
        <p:spPr>
          <a:xfrm>
            <a:off x="635000" y="381000"/>
            <a:ext cx="1016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3200" b="1" dirty="0">
                <a:solidFill>
                  <a:srgbClr val="0070C0"/>
                </a:solidFill>
              </a:rPr>
              <a:t> Як </a:t>
            </a:r>
            <a:r>
              <a:rPr lang="ru-RU" sz="3200" b="1" dirty="0" err="1">
                <a:solidFill>
                  <a:srgbClr val="0070C0"/>
                </a:solidFill>
              </a:rPr>
              <a:t>комп'ютер</a:t>
            </a:r>
            <a:r>
              <a:rPr lang="ru-RU" sz="3200" b="1" dirty="0">
                <a:solidFill>
                  <a:srgbClr val="0070C0"/>
                </a:solidFill>
              </a:rPr>
              <a:t> </a:t>
            </a:r>
            <a:r>
              <a:rPr lang="ru-RU" sz="3200" b="1" dirty="0" err="1">
                <a:solidFill>
                  <a:srgbClr val="0070C0"/>
                </a:solidFill>
              </a:rPr>
              <a:t>показує</a:t>
            </a:r>
            <a:r>
              <a:rPr lang="ru-RU" sz="3200" b="1" dirty="0">
                <a:solidFill>
                  <a:srgbClr val="0070C0"/>
                </a:solidFill>
              </a:rPr>
              <a:t> </a:t>
            </a:r>
            <a:r>
              <a:rPr lang="ru-RU" sz="3200" b="1" dirty="0" err="1">
                <a:solidFill>
                  <a:srgbClr val="0070C0"/>
                </a:solidFill>
              </a:rPr>
              <a:t>інформацію</a:t>
            </a:r>
            <a:r>
              <a:rPr lang="ru-RU" sz="3200" b="1" dirty="0">
                <a:solidFill>
                  <a:srgbClr val="0070C0"/>
                </a:solidFill>
              </a:rPr>
              <a:t>?</a:t>
            </a:r>
            <a:endParaRPr lang="uk-UA" sz="3200" b="1" dirty="0">
              <a:solidFill>
                <a:srgbClr val="0070C0"/>
              </a:solidFill>
            </a:endParaRPr>
          </a:p>
        </p:txBody>
      </p: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A74CAEF2-2DA5-2105-0AFE-8A907704DE7E}"/>
              </a:ext>
            </a:extLst>
          </p:cNvPr>
          <p:cNvSpPr/>
          <p:nvPr/>
        </p:nvSpPr>
        <p:spPr>
          <a:xfrm>
            <a:off x="221522" y="1657637"/>
            <a:ext cx="2540000" cy="1270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/>
              <a:t>Ваш код</a:t>
            </a:r>
          </a:p>
        </p:txBody>
      </p:sp>
      <p:sp>
        <p:nvSpPr>
          <p:cNvPr id="4" name="Стрілка: вправо 3">
            <a:extLst>
              <a:ext uri="{FF2B5EF4-FFF2-40B4-BE49-F238E27FC236}">
                <a16:creationId xmlns:a16="http://schemas.microsoft.com/office/drawing/2014/main" id="{16906353-3D7F-6BAF-19C3-D5DF374E4911}"/>
              </a:ext>
            </a:extLst>
          </p:cNvPr>
          <p:cNvSpPr/>
          <p:nvPr/>
        </p:nvSpPr>
        <p:spPr>
          <a:xfrm rot="2987137">
            <a:off x="2814035" y="3248059"/>
            <a:ext cx="1016000" cy="38100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Прямокутник 4">
            <a:extLst>
              <a:ext uri="{FF2B5EF4-FFF2-40B4-BE49-F238E27FC236}">
                <a16:creationId xmlns:a16="http://schemas.microsoft.com/office/drawing/2014/main" id="{20C01418-D5EB-1581-5759-CA10378EA24B}"/>
              </a:ext>
            </a:extLst>
          </p:cNvPr>
          <p:cNvSpPr/>
          <p:nvPr/>
        </p:nvSpPr>
        <p:spPr>
          <a:xfrm>
            <a:off x="3982858" y="3949482"/>
            <a:ext cx="2540000" cy="1270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Python</a:t>
            </a:r>
            <a:endParaRPr lang="uk-UA"/>
          </a:p>
        </p:txBody>
      </p:sp>
      <p:sp>
        <p:nvSpPr>
          <p:cNvPr id="6" name="Стрілка: вправо 5">
            <a:extLst>
              <a:ext uri="{FF2B5EF4-FFF2-40B4-BE49-F238E27FC236}">
                <a16:creationId xmlns:a16="http://schemas.microsoft.com/office/drawing/2014/main" id="{2BFB8925-5759-DF26-3553-1305ABC22A76}"/>
              </a:ext>
            </a:extLst>
          </p:cNvPr>
          <p:cNvSpPr/>
          <p:nvPr/>
        </p:nvSpPr>
        <p:spPr>
          <a:xfrm rot="18985011">
            <a:off x="6714286" y="3225348"/>
            <a:ext cx="1016000" cy="38100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D28B0918-22AA-E71E-541A-6F0698EAB5F3}"/>
              </a:ext>
            </a:extLst>
          </p:cNvPr>
          <p:cNvSpPr/>
          <p:nvPr/>
        </p:nvSpPr>
        <p:spPr>
          <a:xfrm>
            <a:off x="7871502" y="1657637"/>
            <a:ext cx="2540000" cy="12700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Консоль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434709-8A13-AD8B-BD4A-0D058306C84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10B1D"/>
              </a:clrFrom>
              <a:clrTo>
                <a:srgbClr val="010B1D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96" b="89941" l="9961" r="89974">
                        <a14:foregroundMark x1="54297" y1="8496" x2="47135" y2="84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0080" y="5307351"/>
            <a:ext cx="2325974" cy="1550649"/>
          </a:xfrm>
          <a:prstGeom prst="rect">
            <a:avLst/>
          </a:prstGeom>
          <a:noFill/>
          <a:effectLst>
            <a:glow>
              <a:schemeClr val="accent1"/>
            </a:glow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491514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5989B0-0036-525F-9BC9-D84400C4A952}"/>
              </a:ext>
            </a:extLst>
          </p:cNvPr>
          <p:cNvSpPr txBox="1"/>
          <p:nvPr/>
        </p:nvSpPr>
        <p:spPr>
          <a:xfrm>
            <a:off x="3348220" y="276068"/>
            <a:ext cx="1016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uk-UA" sz="3200" b="1" dirty="0">
                <a:solidFill>
                  <a:srgbClr val="0070C0"/>
                </a:solidFill>
              </a:rPr>
              <a:t> Отримання даних: </a:t>
            </a:r>
            <a:r>
              <a:rPr lang="en-US" sz="3200" b="1" dirty="0">
                <a:solidFill>
                  <a:srgbClr val="0070C0"/>
                </a:solidFill>
              </a:rPr>
              <a:t>input()</a:t>
            </a:r>
            <a:endParaRPr lang="uk-UA" sz="3200" b="1" dirty="0">
              <a:solidFill>
                <a:srgbClr val="0070C0"/>
              </a:solidFill>
            </a:endParaRPr>
          </a:p>
        </p:txBody>
      </p:sp>
      <p:grpSp>
        <p:nvGrpSpPr>
          <p:cNvPr id="6" name="Групувати 5">
            <a:extLst>
              <a:ext uri="{FF2B5EF4-FFF2-40B4-BE49-F238E27FC236}">
                <a16:creationId xmlns:a16="http://schemas.microsoft.com/office/drawing/2014/main" id="{BF14BADF-4828-78BC-7F0A-CCA2BC7AEDF5}"/>
              </a:ext>
            </a:extLst>
          </p:cNvPr>
          <p:cNvGrpSpPr/>
          <p:nvPr/>
        </p:nvGrpSpPr>
        <p:grpSpPr>
          <a:xfrm>
            <a:off x="2756108" y="1948721"/>
            <a:ext cx="6679784" cy="3251200"/>
            <a:chOff x="4242216" y="1828800"/>
            <a:chExt cx="6679784" cy="3251200"/>
          </a:xfrm>
        </p:grpSpPr>
        <p:sp>
          <p:nvSpPr>
            <p:cNvPr id="3" name="Прямокутник 2">
              <a:extLst>
                <a:ext uri="{FF2B5EF4-FFF2-40B4-BE49-F238E27FC236}">
                  <a16:creationId xmlns:a16="http://schemas.microsoft.com/office/drawing/2014/main" id="{34B3CC29-4B10-B50C-0427-B41E4692CAEC}"/>
                </a:ext>
              </a:extLst>
            </p:cNvPr>
            <p:cNvSpPr/>
            <p:nvPr/>
          </p:nvSpPr>
          <p:spPr>
            <a:xfrm>
              <a:off x="4242216" y="1828800"/>
              <a:ext cx="6679784" cy="32512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  <a:prstDash val="lgDash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solidFill>
                  <a:srgbClr val="00B0F0"/>
                </a:solidFill>
                <a:latin typeface="Consolas" panose="020B0609020204030204" pitchFamily="49" charset="0"/>
              </a:endParaRPr>
            </a:p>
          </p:txBody>
        </p:sp>
        <p:pic>
          <p:nvPicPr>
            <p:cNvPr id="5" name="Рисунок 4" descr="Зображення, що містить текст, знімок екрана, Шрифт, число&#10;&#10;Вміст на основі ШІ може бути неправильним.">
              <a:extLst>
                <a:ext uri="{FF2B5EF4-FFF2-40B4-BE49-F238E27FC236}">
                  <a16:creationId xmlns:a16="http://schemas.microsoft.com/office/drawing/2014/main" id="{469FA625-BA41-BD07-4789-4ED48B29D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19753" y="2288225"/>
              <a:ext cx="5124710" cy="2281549"/>
            </a:xfrm>
            <a:prstGeom prst="rect">
              <a:avLst/>
            </a:prstGeom>
          </p:spPr>
        </p:pic>
      </p:grpSp>
      <p:sp>
        <p:nvSpPr>
          <p:cNvPr id="7" name="Стрілка: угору 6">
            <a:extLst>
              <a:ext uri="{FF2B5EF4-FFF2-40B4-BE49-F238E27FC236}">
                <a16:creationId xmlns:a16="http://schemas.microsoft.com/office/drawing/2014/main" id="{D62252C0-811B-C8A2-AC39-58742E62A829}"/>
              </a:ext>
            </a:extLst>
          </p:cNvPr>
          <p:cNvSpPr/>
          <p:nvPr/>
        </p:nvSpPr>
        <p:spPr>
          <a:xfrm rot="2923578">
            <a:off x="1898366" y="5203634"/>
            <a:ext cx="305805" cy="160724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Стрілка: угору 7">
            <a:extLst>
              <a:ext uri="{FF2B5EF4-FFF2-40B4-BE49-F238E27FC236}">
                <a16:creationId xmlns:a16="http://schemas.microsoft.com/office/drawing/2014/main" id="{C720E22D-B545-9262-3295-7EEFE89A38F8}"/>
              </a:ext>
            </a:extLst>
          </p:cNvPr>
          <p:cNvSpPr/>
          <p:nvPr/>
        </p:nvSpPr>
        <p:spPr>
          <a:xfrm rot="7828669">
            <a:off x="1775531" y="369033"/>
            <a:ext cx="305805" cy="160724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Стрілка: угору 8">
            <a:extLst>
              <a:ext uri="{FF2B5EF4-FFF2-40B4-BE49-F238E27FC236}">
                <a16:creationId xmlns:a16="http://schemas.microsoft.com/office/drawing/2014/main" id="{78324AD6-049C-82DC-ADBA-F3531008F743}"/>
              </a:ext>
            </a:extLst>
          </p:cNvPr>
          <p:cNvSpPr/>
          <p:nvPr/>
        </p:nvSpPr>
        <p:spPr>
          <a:xfrm rot="13115731">
            <a:off x="9903807" y="368073"/>
            <a:ext cx="305805" cy="160724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0" name="Стрілка: угору 9">
            <a:extLst>
              <a:ext uri="{FF2B5EF4-FFF2-40B4-BE49-F238E27FC236}">
                <a16:creationId xmlns:a16="http://schemas.microsoft.com/office/drawing/2014/main" id="{42D2C3C9-8BD0-1C68-B2D4-6CE6E3751454}"/>
              </a:ext>
            </a:extLst>
          </p:cNvPr>
          <p:cNvSpPr/>
          <p:nvPr/>
        </p:nvSpPr>
        <p:spPr>
          <a:xfrm rot="18503177">
            <a:off x="10007848" y="4938060"/>
            <a:ext cx="305805" cy="160724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2235AFD-DE88-D37D-4A8B-0445F4E1B78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10B1D"/>
              </a:clrFrom>
              <a:clrTo>
                <a:srgbClr val="010B1D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496" b="89941" l="9961" r="89974">
                        <a14:foregroundMark x1="54297" y1="8496" x2="47135" y2="84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3789" y="0"/>
            <a:ext cx="2325974" cy="1550649"/>
          </a:xfrm>
          <a:prstGeom prst="rect">
            <a:avLst/>
          </a:prstGeom>
          <a:noFill/>
          <a:effectLst>
            <a:glow>
              <a:schemeClr val="accent1"/>
            </a:glow>
            <a:softEdge rad="12700"/>
          </a:effectLst>
        </p:spPr>
      </p:pic>
      <p:cxnSp>
        <p:nvCxnSpPr>
          <p:cNvPr id="12" name="Пряма сполучна лінія 11">
            <a:extLst>
              <a:ext uri="{FF2B5EF4-FFF2-40B4-BE49-F238E27FC236}">
                <a16:creationId xmlns:a16="http://schemas.microsoft.com/office/drawing/2014/main" id="{4833F6A9-0DEE-1FF6-DDDA-A141440F2BAF}"/>
              </a:ext>
            </a:extLst>
          </p:cNvPr>
          <p:cNvCxnSpPr/>
          <p:nvPr/>
        </p:nvCxnSpPr>
        <p:spPr>
          <a:xfrm>
            <a:off x="5107259" y="3791415"/>
            <a:ext cx="2564780" cy="0"/>
          </a:xfrm>
          <a:prstGeom prst="line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prstDash val="lg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 сполучна лінія 12">
            <a:extLst>
              <a:ext uri="{FF2B5EF4-FFF2-40B4-BE49-F238E27FC236}">
                <a16:creationId xmlns:a16="http://schemas.microsoft.com/office/drawing/2014/main" id="{B0C1A274-4A50-0B42-43C0-BB822E263CC5}"/>
              </a:ext>
            </a:extLst>
          </p:cNvPr>
          <p:cNvCxnSpPr/>
          <p:nvPr/>
        </p:nvCxnSpPr>
        <p:spPr>
          <a:xfrm>
            <a:off x="4256049" y="4322957"/>
            <a:ext cx="2564780" cy="0"/>
          </a:xfrm>
          <a:prstGeom prst="line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prstDash val="lg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 сполучна лінія 13">
            <a:extLst>
              <a:ext uri="{FF2B5EF4-FFF2-40B4-BE49-F238E27FC236}">
                <a16:creationId xmlns:a16="http://schemas.microsoft.com/office/drawing/2014/main" id="{4B0B1FDD-E62E-491D-4313-087DF7A1AA64}"/>
              </a:ext>
            </a:extLst>
          </p:cNvPr>
          <p:cNvCxnSpPr>
            <a:cxnSpLocks/>
          </p:cNvCxnSpPr>
          <p:nvPr/>
        </p:nvCxnSpPr>
        <p:spPr>
          <a:xfrm>
            <a:off x="4256049" y="3791415"/>
            <a:ext cx="494371" cy="0"/>
          </a:xfrm>
          <a:prstGeom prst="line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prstDash val="lg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Стрілка: угору 15">
            <a:extLst>
              <a:ext uri="{FF2B5EF4-FFF2-40B4-BE49-F238E27FC236}">
                <a16:creationId xmlns:a16="http://schemas.microsoft.com/office/drawing/2014/main" id="{68443318-2F32-B191-696A-2F75A32B82F2}"/>
              </a:ext>
            </a:extLst>
          </p:cNvPr>
          <p:cNvSpPr/>
          <p:nvPr/>
        </p:nvSpPr>
        <p:spPr>
          <a:xfrm rot="10800000">
            <a:off x="6335714" y="2688118"/>
            <a:ext cx="485115" cy="75693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34836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" presetClass="exit" presetSubtype="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xit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xit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6" grpId="0" animBg="1"/>
      <p:bldP spid="16" grpId="1" animBg="1"/>
      <p:bldP spid="16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7323B4-CEB2-F72D-CDC9-FC1F37198D5C}"/>
              </a:ext>
            </a:extLst>
          </p:cNvPr>
          <p:cNvSpPr txBox="1"/>
          <p:nvPr/>
        </p:nvSpPr>
        <p:spPr>
          <a:xfrm>
            <a:off x="3657450" y="190549"/>
            <a:ext cx="1016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3200" b="1" dirty="0" err="1">
                <a:solidFill>
                  <a:srgbClr val="0070C0"/>
                </a:solidFill>
              </a:rPr>
              <a:t>Змінні</a:t>
            </a:r>
            <a:r>
              <a:rPr lang="ru-RU" sz="3200" b="1" dirty="0">
                <a:solidFill>
                  <a:srgbClr val="0070C0"/>
                </a:solidFill>
              </a:rPr>
              <a:t> та типи </a:t>
            </a:r>
            <a:r>
              <a:rPr lang="ru-RU" sz="3200" b="1" dirty="0" err="1">
                <a:solidFill>
                  <a:srgbClr val="0070C0"/>
                </a:solidFill>
              </a:rPr>
              <a:t>даних</a:t>
            </a:r>
            <a:endParaRPr lang="uk-UA" sz="3200" b="1" dirty="0">
              <a:solidFill>
                <a:srgbClr val="0070C0"/>
              </a:solidFill>
            </a:endParaRPr>
          </a:p>
        </p:txBody>
      </p: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21D3A76C-24F6-C642-5F73-FE93EF23231B}"/>
              </a:ext>
            </a:extLst>
          </p:cNvPr>
          <p:cNvSpPr/>
          <p:nvPr/>
        </p:nvSpPr>
        <p:spPr>
          <a:xfrm>
            <a:off x="0" y="1524000"/>
            <a:ext cx="2667000" cy="1905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int (10)</a:t>
            </a:r>
            <a:endParaRPr lang="uk-UA"/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B627F38D-1883-D180-EC03-A8F631B5FB81}"/>
              </a:ext>
            </a:extLst>
          </p:cNvPr>
          <p:cNvSpPr/>
          <p:nvPr/>
        </p:nvSpPr>
        <p:spPr>
          <a:xfrm>
            <a:off x="3048000" y="1524000"/>
            <a:ext cx="2667000" cy="1905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float (3.14)</a:t>
            </a:r>
            <a:endParaRPr lang="uk-UA"/>
          </a:p>
        </p:txBody>
      </p:sp>
      <p:sp>
        <p:nvSpPr>
          <p:cNvPr id="10" name="Прямокутник 9">
            <a:extLst>
              <a:ext uri="{FF2B5EF4-FFF2-40B4-BE49-F238E27FC236}">
                <a16:creationId xmlns:a16="http://schemas.microsoft.com/office/drawing/2014/main" id="{368DE950-DF61-03C5-2847-A87778D04937}"/>
              </a:ext>
            </a:extLst>
          </p:cNvPr>
          <p:cNvSpPr/>
          <p:nvPr/>
        </p:nvSpPr>
        <p:spPr>
          <a:xfrm>
            <a:off x="2667000" y="3577573"/>
            <a:ext cx="5755703" cy="313185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  <a:prstDash val="lg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Прямокутник 4">
            <a:extLst>
              <a:ext uri="{FF2B5EF4-FFF2-40B4-BE49-F238E27FC236}">
                <a16:creationId xmlns:a16="http://schemas.microsoft.com/office/drawing/2014/main" id="{7598004A-BD66-8E92-B9EA-04813E296DC3}"/>
              </a:ext>
            </a:extLst>
          </p:cNvPr>
          <p:cNvSpPr/>
          <p:nvPr/>
        </p:nvSpPr>
        <p:spPr>
          <a:xfrm>
            <a:off x="6201868" y="1524000"/>
            <a:ext cx="2667000" cy="1905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str ("Hello")</a:t>
            </a:r>
            <a:endParaRPr lang="uk-UA"/>
          </a:p>
        </p:txBody>
      </p:sp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id="{94299AEC-AA7E-5C46-D726-3921C9D6D1F9}"/>
              </a:ext>
            </a:extLst>
          </p:cNvPr>
          <p:cNvSpPr/>
          <p:nvPr/>
        </p:nvSpPr>
        <p:spPr>
          <a:xfrm>
            <a:off x="9355736" y="1524000"/>
            <a:ext cx="2667000" cy="1905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bool (True)</a:t>
            </a:r>
            <a:endParaRPr lang="uk-UA"/>
          </a:p>
        </p:txBody>
      </p:sp>
      <p:pic>
        <p:nvPicPr>
          <p:cNvPr id="8" name="Рисунок 7" descr="Зображення, що містить текст, знімок екрана, програмне забезпечення, Шрифт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C7B5EFDE-5DB2-20CB-1FD5-9ED59C17C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071" y="3810000"/>
            <a:ext cx="4200525" cy="2667000"/>
          </a:xfrm>
          <a:prstGeom prst="rect">
            <a:avLst/>
          </a:prstGeom>
        </p:spPr>
      </p:pic>
      <p:sp>
        <p:nvSpPr>
          <p:cNvPr id="14" name="Стрілка: угору 13">
            <a:extLst>
              <a:ext uri="{FF2B5EF4-FFF2-40B4-BE49-F238E27FC236}">
                <a16:creationId xmlns:a16="http://schemas.microsoft.com/office/drawing/2014/main" id="{994828EE-E590-1DD3-1F4E-5DAAF7855CB8}"/>
              </a:ext>
            </a:extLst>
          </p:cNvPr>
          <p:cNvSpPr/>
          <p:nvPr/>
        </p:nvSpPr>
        <p:spPr>
          <a:xfrm rot="14612099">
            <a:off x="9372096" y="3268966"/>
            <a:ext cx="305805" cy="160724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77E35C6-9A57-AACD-C6E1-CA36E26B8F8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10B1D"/>
              </a:clrFrom>
              <a:clrTo>
                <a:srgbClr val="010B1D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496" b="89941" l="9961" r="89974">
                        <a14:foregroundMark x1="54297" y1="8496" x2="47135" y2="84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2547" y="5334000"/>
            <a:ext cx="2325974" cy="1550649"/>
          </a:xfrm>
          <a:prstGeom prst="rect">
            <a:avLst/>
          </a:prstGeom>
          <a:noFill/>
          <a:effectLst>
            <a:glow>
              <a:schemeClr val="accent1"/>
            </a:glow>
            <a:softEdge rad="12700"/>
          </a:effectLst>
        </p:spPr>
      </p:pic>
      <p:sp>
        <p:nvSpPr>
          <p:cNvPr id="17" name="Стрілка: угору 16">
            <a:extLst>
              <a:ext uri="{FF2B5EF4-FFF2-40B4-BE49-F238E27FC236}">
                <a16:creationId xmlns:a16="http://schemas.microsoft.com/office/drawing/2014/main" id="{CFFA3031-3FD4-80B3-05DD-71AD82EE4569}"/>
              </a:ext>
            </a:extLst>
          </p:cNvPr>
          <p:cNvSpPr/>
          <p:nvPr/>
        </p:nvSpPr>
        <p:spPr>
          <a:xfrm rot="6987901" flipH="1">
            <a:off x="1569176" y="3268966"/>
            <a:ext cx="305805" cy="160724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cxnSp>
        <p:nvCxnSpPr>
          <p:cNvPr id="7" name="Пряма сполучна лінія 6">
            <a:extLst>
              <a:ext uri="{FF2B5EF4-FFF2-40B4-BE49-F238E27FC236}">
                <a16:creationId xmlns:a16="http://schemas.microsoft.com/office/drawing/2014/main" id="{26401E5E-36A6-6417-89A6-FF37A588CACF}"/>
              </a:ext>
            </a:extLst>
          </p:cNvPr>
          <p:cNvCxnSpPr>
            <a:cxnSpLocks/>
          </p:cNvCxnSpPr>
          <p:nvPr/>
        </p:nvCxnSpPr>
        <p:spPr>
          <a:xfrm>
            <a:off x="4036742" y="4884235"/>
            <a:ext cx="1048214" cy="0"/>
          </a:xfrm>
          <a:prstGeom prst="line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prstDash val="lg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Пряма сполучна лінія 10">
            <a:extLst>
              <a:ext uri="{FF2B5EF4-FFF2-40B4-BE49-F238E27FC236}">
                <a16:creationId xmlns:a16="http://schemas.microsoft.com/office/drawing/2014/main" id="{BBD2024B-4472-76D7-6D61-DACEE098E56D}"/>
              </a:ext>
            </a:extLst>
          </p:cNvPr>
          <p:cNvCxnSpPr>
            <a:cxnSpLocks/>
          </p:cNvCxnSpPr>
          <p:nvPr/>
        </p:nvCxnSpPr>
        <p:spPr>
          <a:xfrm>
            <a:off x="4036742" y="5307981"/>
            <a:ext cx="1678258" cy="0"/>
          </a:xfrm>
          <a:prstGeom prst="line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prstDash val="lg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 сполучна лінія 12">
            <a:extLst>
              <a:ext uri="{FF2B5EF4-FFF2-40B4-BE49-F238E27FC236}">
                <a16:creationId xmlns:a16="http://schemas.microsoft.com/office/drawing/2014/main" id="{C7D28CA6-7FBB-7121-8186-C62714BD4218}"/>
              </a:ext>
            </a:extLst>
          </p:cNvPr>
          <p:cNvCxnSpPr>
            <a:cxnSpLocks/>
          </p:cNvCxnSpPr>
          <p:nvPr/>
        </p:nvCxnSpPr>
        <p:spPr>
          <a:xfrm>
            <a:off x="4055327" y="5638801"/>
            <a:ext cx="2146541" cy="0"/>
          </a:xfrm>
          <a:prstGeom prst="line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prstDash val="lg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Пряма сполучна лінія 17">
            <a:extLst>
              <a:ext uri="{FF2B5EF4-FFF2-40B4-BE49-F238E27FC236}">
                <a16:creationId xmlns:a16="http://schemas.microsoft.com/office/drawing/2014/main" id="{E7DA0D8A-9B9C-9FA0-938A-B1FC6CA919D5}"/>
              </a:ext>
            </a:extLst>
          </p:cNvPr>
          <p:cNvCxnSpPr>
            <a:cxnSpLocks/>
          </p:cNvCxnSpPr>
          <p:nvPr/>
        </p:nvCxnSpPr>
        <p:spPr>
          <a:xfrm>
            <a:off x="4055327" y="5969621"/>
            <a:ext cx="1659673" cy="0"/>
          </a:xfrm>
          <a:prstGeom prst="line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prstDash val="lg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030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xit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xit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xit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xit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0A44B6-1E90-D49D-95AC-21825FA9CB14}"/>
              </a:ext>
            </a:extLst>
          </p:cNvPr>
          <p:cNvSpPr txBox="1"/>
          <p:nvPr/>
        </p:nvSpPr>
        <p:spPr>
          <a:xfrm>
            <a:off x="635000" y="381000"/>
            <a:ext cx="1016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uk-UA" sz="3200" b="1" dirty="0">
                <a:solidFill>
                  <a:srgbClr val="0070C0"/>
                </a:solidFill>
              </a:rPr>
              <a:t>Зв'язок: </a:t>
            </a:r>
            <a:r>
              <a:rPr lang="en-US" sz="3200" b="1" dirty="0">
                <a:solidFill>
                  <a:srgbClr val="0070C0"/>
                </a:solidFill>
              </a:rPr>
              <a:t>input -&gt; </a:t>
            </a:r>
            <a:r>
              <a:rPr lang="uk-UA" sz="3200" b="1" dirty="0">
                <a:solidFill>
                  <a:srgbClr val="0070C0"/>
                </a:solidFill>
              </a:rPr>
              <a:t>змінна -&gt; </a:t>
            </a:r>
            <a:r>
              <a:rPr lang="en-US" sz="3200" b="1" dirty="0">
                <a:solidFill>
                  <a:srgbClr val="0070C0"/>
                </a:solidFill>
              </a:rPr>
              <a:t>print</a:t>
            </a:r>
            <a:endParaRPr lang="uk-UA" sz="3200" b="1" dirty="0">
              <a:solidFill>
                <a:srgbClr val="0070C0"/>
              </a:solidFill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AA4F4655-BB7A-F791-23C0-789464CB637F}"/>
              </a:ext>
            </a:extLst>
          </p:cNvPr>
          <p:cNvSpPr/>
          <p:nvPr/>
        </p:nvSpPr>
        <p:spPr>
          <a:xfrm>
            <a:off x="189042" y="1653499"/>
            <a:ext cx="2286000" cy="1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input()</a:t>
            </a:r>
            <a:endParaRPr lang="uk-UA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AD571F2A-0726-1E6F-3372-0C08749D47B5}"/>
              </a:ext>
            </a:extLst>
          </p:cNvPr>
          <p:cNvSpPr/>
          <p:nvPr/>
        </p:nvSpPr>
        <p:spPr>
          <a:xfrm>
            <a:off x="3142521" y="1653499"/>
            <a:ext cx="2286000" cy="1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/>
              <a:t>Змінна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19B965F2-6836-0410-8581-55A42BCB93E7}"/>
              </a:ext>
            </a:extLst>
          </p:cNvPr>
          <p:cNvSpPr/>
          <p:nvPr/>
        </p:nvSpPr>
        <p:spPr>
          <a:xfrm>
            <a:off x="6096000" y="1653499"/>
            <a:ext cx="2286000" cy="1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/>
              <a:t>Обробка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9EEE08D5-C11D-E9E5-7568-943DBE0862B8}"/>
              </a:ext>
            </a:extLst>
          </p:cNvPr>
          <p:cNvSpPr/>
          <p:nvPr/>
        </p:nvSpPr>
        <p:spPr>
          <a:xfrm>
            <a:off x="9128177" y="1653499"/>
            <a:ext cx="2286000" cy="1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print()</a:t>
            </a:r>
            <a:endParaRPr lang="uk-UA"/>
          </a:p>
        </p:txBody>
      </p:sp>
      <p:cxnSp>
        <p:nvCxnSpPr>
          <p:cNvPr id="8" name="Пряма зі стрілкою 7">
            <a:extLst>
              <a:ext uri="{FF2B5EF4-FFF2-40B4-BE49-F238E27FC236}">
                <a16:creationId xmlns:a16="http://schemas.microsoft.com/office/drawing/2014/main" id="{15D76123-9542-77B6-6295-7FB7F35FC4B3}"/>
              </a:ext>
            </a:extLst>
          </p:cNvPr>
          <p:cNvCxnSpPr>
            <a:cxnSpLocks/>
            <a:stCxn id="3" idx="6"/>
            <a:endCxn id="4" idx="2"/>
          </p:cNvCxnSpPr>
          <p:nvPr/>
        </p:nvCxnSpPr>
        <p:spPr>
          <a:xfrm>
            <a:off x="2475042" y="2288499"/>
            <a:ext cx="6674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Пряма зі стрілкою 10">
            <a:extLst>
              <a:ext uri="{FF2B5EF4-FFF2-40B4-BE49-F238E27FC236}">
                <a16:creationId xmlns:a16="http://schemas.microsoft.com/office/drawing/2014/main" id="{26B28DDE-8395-9F25-A7CF-B523591C87E1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5428521" y="2288499"/>
            <a:ext cx="6674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Пряма зі стрілкою 11">
            <a:extLst>
              <a:ext uri="{FF2B5EF4-FFF2-40B4-BE49-F238E27FC236}">
                <a16:creationId xmlns:a16="http://schemas.microsoft.com/office/drawing/2014/main" id="{55EA4164-D210-4E25-2301-8DA9F753D5D8}"/>
              </a:ext>
            </a:extLst>
          </p:cNvPr>
          <p:cNvCxnSpPr/>
          <p:nvPr/>
        </p:nvCxnSpPr>
        <p:spPr>
          <a:xfrm>
            <a:off x="8382000" y="2288499"/>
            <a:ext cx="6674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0B149DB-E2DB-3529-4D45-07C5D8577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426" y="2923499"/>
            <a:ext cx="7395147" cy="385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561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95557C-729D-BFAC-F45C-ECA7F42ACA32}"/>
              </a:ext>
            </a:extLst>
          </p:cNvPr>
          <p:cNvSpPr txBox="1"/>
          <p:nvPr/>
        </p:nvSpPr>
        <p:spPr>
          <a:xfrm>
            <a:off x="635000" y="381000"/>
            <a:ext cx="1016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uk-UA" sz="3200" b="1" dirty="0">
                <a:solidFill>
                  <a:srgbClr val="0070C0"/>
                </a:solidFill>
              </a:rPr>
              <a:t> Повний приклад програми</a:t>
            </a:r>
          </a:p>
        </p:txBody>
      </p: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60536FC0-0490-E0F0-DA75-143D38ADC7FD}"/>
              </a:ext>
            </a:extLst>
          </p:cNvPr>
          <p:cNvSpPr/>
          <p:nvPr/>
        </p:nvSpPr>
        <p:spPr>
          <a:xfrm>
            <a:off x="96287" y="1635177"/>
            <a:ext cx="5588000" cy="3810000"/>
          </a:xfrm>
          <a:prstGeom prst="rect">
            <a:avLst/>
          </a:prstGeom>
          <a:solidFill>
            <a:srgbClr val="1E1E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4000" dirty="0"/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57B2F5EA-357F-35F0-F1C5-1BF16479E3D2}"/>
              </a:ext>
            </a:extLst>
          </p:cNvPr>
          <p:cNvSpPr/>
          <p:nvPr/>
        </p:nvSpPr>
        <p:spPr>
          <a:xfrm>
            <a:off x="6095999" y="1635177"/>
            <a:ext cx="5881141" cy="3810000"/>
          </a:xfrm>
          <a:prstGeom prst="rect">
            <a:avLst/>
          </a:prstGeom>
          <a:solidFill>
            <a:srgbClr val="28140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solidFill>
                <a:srgbClr val="00B0F0"/>
              </a:solidFill>
            </a:endParaRPr>
          </a:p>
        </p:txBody>
      </p:sp>
      <p:pic>
        <p:nvPicPr>
          <p:cNvPr id="6" name="Рисунок 5" descr="Зображення, що містить текст, знімок екрана, Шрифт, число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E80D8EA3-0D3A-1973-43FF-0CC8392A8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61" y="2049631"/>
            <a:ext cx="5301520" cy="2981091"/>
          </a:xfrm>
          <a:prstGeom prst="rect">
            <a:avLst/>
          </a:prstGeom>
        </p:spPr>
      </p:pic>
      <p:pic>
        <p:nvPicPr>
          <p:cNvPr id="8" name="Рисунок 7" descr="Зображення, що містить текст, знімок екрана, Шрифт, програмне забезпечення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55EB0A62-4E5B-EC25-EE68-C81027090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318" y="2094913"/>
            <a:ext cx="5458502" cy="2890525"/>
          </a:xfrm>
          <a:prstGeom prst="rect">
            <a:avLst/>
          </a:prstGeom>
        </p:spPr>
      </p:pic>
      <p:sp>
        <p:nvSpPr>
          <p:cNvPr id="9" name="Стрілка: угору 8">
            <a:extLst>
              <a:ext uri="{FF2B5EF4-FFF2-40B4-BE49-F238E27FC236}">
                <a16:creationId xmlns:a16="http://schemas.microsoft.com/office/drawing/2014/main" id="{401B297C-76CA-A996-628A-FF90C8034055}"/>
              </a:ext>
            </a:extLst>
          </p:cNvPr>
          <p:cNvSpPr/>
          <p:nvPr/>
        </p:nvSpPr>
        <p:spPr>
          <a:xfrm rot="14612099">
            <a:off x="2623064" y="2323704"/>
            <a:ext cx="485115" cy="75693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E86CAAA-595E-DA8E-803D-5E7FF711CA3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10B1D"/>
              </a:clrFrom>
              <a:clrTo>
                <a:srgbClr val="010B1D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496" b="89941" l="9961" r="89974">
                        <a14:foregroundMark x1="54297" y1="8496" x2="47135" y2="84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444" y="-101938"/>
            <a:ext cx="2325974" cy="1550649"/>
          </a:xfrm>
          <a:prstGeom prst="rect">
            <a:avLst/>
          </a:prstGeom>
          <a:noFill/>
          <a:effectLst>
            <a:glow>
              <a:schemeClr val="accent1"/>
            </a:glow>
            <a:softEdge rad="12700"/>
          </a:effectLst>
        </p:spPr>
      </p:pic>
      <p:sp>
        <p:nvSpPr>
          <p:cNvPr id="11" name="Стрілка: угору 10">
            <a:extLst>
              <a:ext uri="{FF2B5EF4-FFF2-40B4-BE49-F238E27FC236}">
                <a16:creationId xmlns:a16="http://schemas.microsoft.com/office/drawing/2014/main" id="{BEF54963-468B-809E-33D0-4EC10717F581}"/>
              </a:ext>
            </a:extLst>
          </p:cNvPr>
          <p:cNvSpPr/>
          <p:nvPr/>
        </p:nvSpPr>
        <p:spPr>
          <a:xfrm rot="14612099">
            <a:off x="2707018" y="2909274"/>
            <a:ext cx="485115" cy="75693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Стрілка: угору 11">
            <a:extLst>
              <a:ext uri="{FF2B5EF4-FFF2-40B4-BE49-F238E27FC236}">
                <a16:creationId xmlns:a16="http://schemas.microsoft.com/office/drawing/2014/main" id="{19C53D51-FBD7-44CC-4509-07DEC2C476E7}"/>
              </a:ext>
            </a:extLst>
          </p:cNvPr>
          <p:cNvSpPr/>
          <p:nvPr/>
        </p:nvSpPr>
        <p:spPr>
          <a:xfrm rot="14612099">
            <a:off x="3259581" y="3436336"/>
            <a:ext cx="485115" cy="75693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Стрілка: угору 12">
            <a:extLst>
              <a:ext uri="{FF2B5EF4-FFF2-40B4-BE49-F238E27FC236}">
                <a16:creationId xmlns:a16="http://schemas.microsoft.com/office/drawing/2014/main" id="{15929670-3FEE-9576-C1C5-836D9A5B7F71}"/>
              </a:ext>
            </a:extLst>
          </p:cNvPr>
          <p:cNvSpPr/>
          <p:nvPr/>
        </p:nvSpPr>
        <p:spPr>
          <a:xfrm rot="14612099">
            <a:off x="9530724" y="2323703"/>
            <a:ext cx="485115" cy="75693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Стрілка: угору 13">
            <a:extLst>
              <a:ext uri="{FF2B5EF4-FFF2-40B4-BE49-F238E27FC236}">
                <a16:creationId xmlns:a16="http://schemas.microsoft.com/office/drawing/2014/main" id="{6DF76188-5442-1536-C152-AA88849CAAFC}"/>
              </a:ext>
            </a:extLst>
          </p:cNvPr>
          <p:cNvSpPr/>
          <p:nvPr/>
        </p:nvSpPr>
        <p:spPr>
          <a:xfrm rot="14612099">
            <a:off x="9446769" y="2845940"/>
            <a:ext cx="485115" cy="75693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Стрілка: угору 14">
            <a:extLst>
              <a:ext uri="{FF2B5EF4-FFF2-40B4-BE49-F238E27FC236}">
                <a16:creationId xmlns:a16="http://schemas.microsoft.com/office/drawing/2014/main" id="{136C7FAA-EF7E-B0F8-B6CA-6A4ABA2CE3D9}"/>
              </a:ext>
            </a:extLst>
          </p:cNvPr>
          <p:cNvSpPr/>
          <p:nvPr/>
        </p:nvSpPr>
        <p:spPr>
          <a:xfrm rot="14612099">
            <a:off x="8655831" y="3378909"/>
            <a:ext cx="485115" cy="75693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5439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xit" presetSubtype="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" presetClass="exit" presetSubtype="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" presetClass="exit" presetSubtype="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1" presetClass="entr" presetSubtype="0" fill="hold" grpId="1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000"/>
                            </p:stCondLst>
                            <p:childTnLst>
                              <p:par>
                                <p:cTn id="46" presetID="1" presetClass="exit" presetSubtype="0" fill="hold" grpId="2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500"/>
                            </p:stCondLst>
                            <p:childTnLst>
                              <p:par>
                                <p:cTn id="49" presetID="1" presetClass="entr" presetSubtype="0" fill="hold" grpId="1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4500"/>
                            </p:stCondLst>
                            <p:childTnLst>
                              <p:par>
                                <p:cTn id="52" presetID="1" presetClass="exit" presetSubtype="0" fill="hold" grpId="2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5" grpId="0" animBg="1"/>
      <p:bldP spid="15" grpId="1" animBg="1"/>
      <p:bldP spid="15" grpId="2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F29D20-AAFB-BCB3-1466-30C19D9DF818}"/>
              </a:ext>
            </a:extLst>
          </p:cNvPr>
          <p:cNvSpPr txBox="1"/>
          <p:nvPr/>
        </p:nvSpPr>
        <p:spPr>
          <a:xfrm>
            <a:off x="3722973" y="276069"/>
            <a:ext cx="1016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uk-UA" sz="3200" b="1" dirty="0">
                <a:solidFill>
                  <a:srgbClr val="0070C0"/>
                </a:solidFill>
              </a:rPr>
              <a:t>Практичне завдання</a:t>
            </a:r>
          </a:p>
        </p:txBody>
      </p: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495F4171-3661-74ED-F908-293DFC955B03}"/>
              </a:ext>
            </a:extLst>
          </p:cNvPr>
          <p:cNvSpPr/>
          <p:nvPr/>
        </p:nvSpPr>
        <p:spPr>
          <a:xfrm>
            <a:off x="1105108" y="1890010"/>
            <a:ext cx="9652000" cy="381000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4" name="Стрілка: угору 3">
            <a:extLst>
              <a:ext uri="{FF2B5EF4-FFF2-40B4-BE49-F238E27FC236}">
                <a16:creationId xmlns:a16="http://schemas.microsoft.com/office/drawing/2014/main" id="{9E0AF1A3-8B49-D754-9923-30CEE3E14CC9}"/>
              </a:ext>
            </a:extLst>
          </p:cNvPr>
          <p:cNvSpPr/>
          <p:nvPr/>
        </p:nvSpPr>
        <p:spPr>
          <a:xfrm rot="2923578">
            <a:off x="261239" y="5541418"/>
            <a:ext cx="305805" cy="160724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Стрілка: угору 4">
            <a:extLst>
              <a:ext uri="{FF2B5EF4-FFF2-40B4-BE49-F238E27FC236}">
                <a16:creationId xmlns:a16="http://schemas.microsoft.com/office/drawing/2014/main" id="{22DBD395-EC70-86D9-4A30-60CAD50662BE}"/>
              </a:ext>
            </a:extLst>
          </p:cNvPr>
          <p:cNvSpPr/>
          <p:nvPr/>
        </p:nvSpPr>
        <p:spPr>
          <a:xfrm rot="7828669">
            <a:off x="241667" y="363569"/>
            <a:ext cx="305805" cy="160724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" name="Стрілка: угору 5">
            <a:extLst>
              <a:ext uri="{FF2B5EF4-FFF2-40B4-BE49-F238E27FC236}">
                <a16:creationId xmlns:a16="http://schemas.microsoft.com/office/drawing/2014/main" id="{EC117263-80EA-94CF-27D5-F522240D3E86}"/>
              </a:ext>
            </a:extLst>
          </p:cNvPr>
          <p:cNvSpPr/>
          <p:nvPr/>
        </p:nvSpPr>
        <p:spPr>
          <a:xfrm rot="13115731">
            <a:off x="11171109" y="366628"/>
            <a:ext cx="305805" cy="160724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Стрілка: угору 6">
            <a:extLst>
              <a:ext uri="{FF2B5EF4-FFF2-40B4-BE49-F238E27FC236}">
                <a16:creationId xmlns:a16="http://schemas.microsoft.com/office/drawing/2014/main" id="{69AC57C6-DD24-FFDC-5D97-A9DFB8DF6E69}"/>
              </a:ext>
            </a:extLst>
          </p:cNvPr>
          <p:cNvSpPr/>
          <p:nvPr/>
        </p:nvSpPr>
        <p:spPr>
          <a:xfrm rot="18503177">
            <a:off x="11275151" y="5460170"/>
            <a:ext cx="305805" cy="160724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7EFC470-1FCC-4B73-22AF-273E7330768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10B1D"/>
              </a:clrFrom>
              <a:clrTo>
                <a:srgbClr val="010B1D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96" b="89941" l="9961" r="89974">
                        <a14:foregroundMark x1="54297" y1="8496" x2="47135" y2="84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066" y="-67965"/>
            <a:ext cx="2325974" cy="1550649"/>
          </a:xfrm>
          <a:prstGeom prst="rect">
            <a:avLst/>
          </a:prstGeom>
          <a:noFill/>
          <a:effectLst>
            <a:glow>
              <a:schemeClr val="accent1"/>
            </a:glow>
            <a:softEdge rad="12700"/>
          </a:effectLst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C4E580E9-4074-5BDB-30AE-0C480E794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4892" y="2419927"/>
            <a:ext cx="7965194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📝 Практичне завдання: «Калькулятор IMC»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Створіть програму, яка: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Запитує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ім’я (</a:t>
            </a:r>
            <a:r>
              <a:rPr lang="en-US" altLang="uk-UA" sz="2000" dirty="0">
                <a:latin typeface="Google Sans Text"/>
              </a:rPr>
              <a:t>name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), вагу(</a:t>
            </a:r>
            <a:r>
              <a:rPr kumimoji="0" lang="en-US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weight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та зріст(</a:t>
            </a:r>
            <a:r>
              <a:rPr kumimoji="0" lang="en-US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height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Рахує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індекс за формулою: IMC =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weight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/ height^2.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Визначає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норму (від 18.5 до 24.9) у вигляді </a:t>
            </a:r>
            <a:r>
              <a:rPr kumimoji="0" lang="uk-UA" altLang="uk-UA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True</a:t>
            </a:r>
            <a:r>
              <a:rPr kumimoji="0" lang="uk-UA" altLang="uk-UA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/</a:t>
            </a:r>
            <a:r>
              <a:rPr kumimoji="0" lang="uk-UA" altLang="uk-UA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False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Виводить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повідомлення: </a:t>
            </a:r>
            <a:r>
              <a:rPr kumimoji="0" lang="uk-UA" altLang="uk-UA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"Користувач [ім'я], ваш IMC: [результат].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uk-UA" altLang="uk-UA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Норма: [</a:t>
            </a:r>
            <a:r>
              <a:rPr kumimoji="0" lang="uk-UA" altLang="uk-UA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True</a:t>
            </a:r>
            <a:r>
              <a:rPr kumimoji="0" lang="uk-UA" altLang="uk-UA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/</a:t>
            </a:r>
            <a:r>
              <a:rPr kumimoji="0" lang="uk-UA" altLang="uk-UA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False</a:t>
            </a:r>
            <a:r>
              <a:rPr kumimoji="0" lang="uk-UA" altLang="uk-UA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]"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892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5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50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5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162</Words>
  <Application>Microsoft Office PowerPoint</Application>
  <PresentationFormat>Широкий екран</PresentationFormat>
  <Paragraphs>30</Paragraphs>
  <Slides>8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Google Sans</vt:lpstr>
      <vt:lpstr>Google Sans Text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Коханчук Денис Тарасович</dc:creator>
  <cp:lastModifiedBy>Коханчук Денис Тарасович</cp:lastModifiedBy>
  <cp:revision>5</cp:revision>
  <dcterms:created xsi:type="dcterms:W3CDTF">2026-01-15T08:59:35Z</dcterms:created>
  <dcterms:modified xsi:type="dcterms:W3CDTF">2026-01-15T16:10:02Z</dcterms:modified>
</cp:coreProperties>
</file>